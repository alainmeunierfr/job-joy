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5A55518-483D-55F6-60B1-240205950E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A6010CD-629C-28C0-EA58-7753F6BCF2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26045EB-E969-BEC7-57DC-F7F18C0B5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27673-F07E-4C08-98B4-F217719FC32E}" type="datetimeFigureOut">
              <a:rPr lang="fr-FR" smtClean="0"/>
              <a:t>25/02/2026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AE0C5B6-B50C-85BD-166D-565FED0EE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47AD28C-1DE7-F854-F59B-BDEDF11FF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4FFD0-A556-4FE5-A8B4-183ADEEA992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13387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20DEDD5-0EFC-A7E7-C5FB-00F37E8CB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17F172A-0AFE-8129-B215-B8E0217809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529C725-C8A6-5F02-93C8-BD542ECB3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27673-F07E-4C08-98B4-F217719FC32E}" type="datetimeFigureOut">
              <a:rPr lang="fr-FR" smtClean="0"/>
              <a:t>25/02/2026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92CA464-7208-C020-7090-6550A6826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61D76CE-B0D1-4905-E104-E7E60AC0B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4FFD0-A556-4FE5-A8B4-183ADEEA992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506873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3073DF0-9D29-D64C-172E-7E0A2BF6D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F275794-EBDE-6A09-749E-C9E79D36D0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FCCF24D-CACA-1296-6AD6-0B306B55A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27673-F07E-4C08-98B4-F217719FC32E}" type="datetimeFigureOut">
              <a:rPr lang="fr-FR" smtClean="0"/>
              <a:t>25/02/2026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5958371-CC7E-DF95-0E9C-EB69FB607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C0C7088-1E16-802D-3928-875BBBD13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4FFD0-A556-4FE5-A8B4-183ADEEA992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210381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C53A71B-F092-7D1B-0719-8FEDC355F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A51D56C-0664-D0E8-6467-6AF0237994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73A2B6C-AF02-A3FB-7612-28C39B66AE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68226BA-94F1-6B40-A943-A88F83576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27673-F07E-4C08-98B4-F217719FC32E}" type="datetimeFigureOut">
              <a:rPr lang="fr-FR" smtClean="0"/>
              <a:t>25/02/2026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9F21483-A50B-D53E-ADB6-575EDAF97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1EB9F30-4606-98B0-87BF-9F7DD754D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4FFD0-A556-4FE5-A8B4-183ADEEA992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97322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C75118A-1BCF-F0B7-C0F5-C1BB086EC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57F42D9-B81D-23DF-6188-85AAE6A147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C075232-6019-FE7F-1971-B368EFC872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64F0FDC-6E32-A134-64E9-9A2961597B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DC6D68A2-0481-3A7C-502E-AEE9D66A3C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7D522EE9-6F2E-5D8B-66B0-2B06E0E288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27673-F07E-4C08-98B4-F217719FC32E}" type="datetimeFigureOut">
              <a:rPr lang="fr-FR" smtClean="0"/>
              <a:t>25/02/2026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7E3068F5-31DE-1659-BCCC-21DFAC706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CB07CAD6-082B-57A1-E464-BED4A1234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4FFD0-A556-4FE5-A8B4-183ADEEA992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07011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4C0D93B-773E-0E02-1B5A-60B339098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1F38405-39BE-9D50-99A9-D0748E424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27673-F07E-4C08-98B4-F217719FC32E}" type="datetimeFigureOut">
              <a:rPr lang="fr-FR" smtClean="0"/>
              <a:t>25/02/2026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8ADAA22-9682-EF1E-3158-65E5C68C1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B3209D2-43DA-AA1C-E271-6B2EDBCC9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4FFD0-A556-4FE5-A8B4-183ADEEA992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83190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0BF4A42A-4566-47F4-1F48-CEC2183F0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27673-F07E-4C08-98B4-F217719FC32E}" type="datetimeFigureOut">
              <a:rPr lang="fr-FR" smtClean="0"/>
              <a:t>25/02/2026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CD056D28-476E-E438-5409-45B727711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8FE470B-2F0F-A7E7-40AA-6C144AD30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4FFD0-A556-4FE5-A8B4-183ADEEA992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849485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E3B559D-1B58-3172-AC75-A11CF33A0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D848006-CA09-5DDE-CFC8-9CE97C6B16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712CE7D-E002-EEB7-6C87-3D3840DC77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A91041E-A425-C0BB-D165-E2E1D1810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27673-F07E-4C08-98B4-F217719FC32E}" type="datetimeFigureOut">
              <a:rPr lang="fr-FR" smtClean="0"/>
              <a:t>25/02/2026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C3EFAE9-FFCF-8B6A-56E9-BBA4D485C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C56DA41-02CC-D5A6-65F1-5CBA03ED8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4FFD0-A556-4FE5-A8B4-183ADEEA992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622670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E367F21-EA12-88F8-3211-66800168A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67E64AF7-2E51-6F22-6CB3-46180BE9B2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387093E-CD53-2846-A5C9-9B9A0F4D10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18489BE-2463-4102-0F3B-B06FCBC28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27673-F07E-4C08-98B4-F217719FC32E}" type="datetimeFigureOut">
              <a:rPr lang="fr-FR" smtClean="0"/>
              <a:t>25/02/2026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3D04F21-1D98-194F-2B9C-1C8E10110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FAD684C-D8BD-AC59-B511-AAD54434B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4FFD0-A556-4FE5-A8B4-183ADEEA992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859093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BFF218C-EADD-1978-E76D-1801582E30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0958E5DE-AFE2-6A48-E998-F49FB73C4A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AF8110D-EB59-A4C3-578C-915607E85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27673-F07E-4C08-98B4-F217719FC32E}" type="datetimeFigureOut">
              <a:rPr lang="fr-FR" smtClean="0"/>
              <a:t>25/02/2026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3FFBC14-F6C4-9147-64EB-2C2695920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CA7BE3C-EE4C-7DA2-48E5-93D530EFA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4FFD0-A556-4FE5-A8B4-183ADEEA992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196639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9B8DF7F2-5FF5-B901-5FA0-3852B05708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DEFFCBC-6F5A-F149-ADD1-AA56AE97AD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4558642-7DCB-12EF-332B-ABE3C14C7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27673-F07E-4C08-98B4-F217719FC32E}" type="datetimeFigureOut">
              <a:rPr lang="fr-FR" smtClean="0"/>
              <a:t>25/02/2026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5C40017-59B7-9DA0-CD55-3F50CA0BE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98AF8DD-1F86-D905-89A3-DEFF6D0F6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4FFD0-A556-4FE5-A8B4-183ADEEA992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92607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BC0780E5-A18E-05A5-6071-8B67FE0E2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EE26309-63E6-8256-5787-6673FA05D0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5EFA02B-78FD-322E-044A-4268A70D96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327673-F07E-4C08-98B4-F217719FC32E}" type="datetimeFigureOut">
              <a:rPr lang="fr-FR" smtClean="0"/>
              <a:t>25/02/2026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FE600EE-83F1-336C-0BDC-81BF448975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4AC4701-F098-5432-31A1-00DAEC0086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94FFD0-A556-4FE5-A8B4-183ADEEA992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71254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5AE3A6F0-B84F-9634-34C7-87CEC657C4BF}"/>
              </a:ext>
            </a:extLst>
          </p:cNvPr>
          <p:cNvSpPr txBox="1"/>
          <p:nvPr/>
        </p:nvSpPr>
        <p:spPr>
          <a:xfrm>
            <a:off x="412526" y="693158"/>
            <a:ext cx="1900674" cy="93871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fr-FR" sz="1100" b="1" i="0" noProof="1">
                <a:solidFill>
                  <a:srgbClr val="1A1A1A"/>
                </a:solidFill>
                <a:effectLst/>
                <a:latin typeface="system-ui"/>
              </a:rPr>
              <a:t>Email dans votre BAL</a:t>
            </a:r>
          </a:p>
          <a:p>
            <a:pPr algn="ctr"/>
            <a:endParaRPr lang="fr-FR" sz="1100" b="1" noProof="1">
              <a:solidFill>
                <a:srgbClr val="1A1A1A"/>
              </a:solidFill>
              <a:latin typeface="system-ui"/>
            </a:endParaRPr>
          </a:p>
          <a:p>
            <a:pPr algn="ctr"/>
            <a:endParaRPr lang="fr-FR" sz="1100" b="1" noProof="1">
              <a:solidFill>
                <a:srgbClr val="1A1A1A"/>
              </a:solidFill>
              <a:latin typeface="system-ui"/>
            </a:endParaRPr>
          </a:p>
          <a:p>
            <a:pPr algn="ctr"/>
            <a:endParaRPr lang="fr-FR" sz="1100" b="1" noProof="1">
              <a:solidFill>
                <a:srgbClr val="1A1A1A"/>
              </a:solidFill>
              <a:latin typeface="system-ui"/>
            </a:endParaRPr>
          </a:p>
          <a:p>
            <a:pPr algn="ctr"/>
            <a:endParaRPr lang="fr-FR" sz="1100" b="1" noProof="1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207946D3-42D1-2B71-3E7D-5277B23E482E}"/>
              </a:ext>
            </a:extLst>
          </p:cNvPr>
          <p:cNvSpPr txBox="1"/>
          <p:nvPr/>
        </p:nvSpPr>
        <p:spPr>
          <a:xfrm>
            <a:off x="2990359" y="693158"/>
            <a:ext cx="3401065" cy="398570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fr-FR" sz="1100" b="1" i="0" noProof="1">
                <a:solidFill>
                  <a:srgbClr val="1A1A1A"/>
                </a:solidFill>
                <a:effectLst/>
                <a:latin typeface="system-ui"/>
              </a:rPr>
              <a:t>Offres dans Airtable</a:t>
            </a:r>
            <a:endParaRPr lang="fr-FR" sz="1100" b="1" noProof="1">
              <a:solidFill>
                <a:srgbClr val="1A1A1A"/>
              </a:solidFill>
              <a:latin typeface="system-ui"/>
            </a:endParaRPr>
          </a:p>
          <a:p>
            <a:pPr algn="ctr"/>
            <a:endParaRPr lang="fr-FR" sz="1100" b="1" noProof="1">
              <a:solidFill>
                <a:srgbClr val="1A1A1A"/>
              </a:solidFill>
              <a:latin typeface="system-ui"/>
            </a:endParaRPr>
          </a:p>
          <a:p>
            <a:pPr algn="ctr"/>
            <a:endParaRPr lang="fr-FR" sz="1100" b="1" noProof="1">
              <a:solidFill>
                <a:srgbClr val="1A1A1A"/>
              </a:solidFill>
              <a:latin typeface="system-ui"/>
            </a:endParaRPr>
          </a:p>
          <a:p>
            <a:pPr algn="ctr"/>
            <a:endParaRPr lang="fr-FR" sz="1100" b="1" noProof="1">
              <a:solidFill>
                <a:srgbClr val="1A1A1A"/>
              </a:solidFill>
              <a:latin typeface="system-ui"/>
            </a:endParaRPr>
          </a:p>
          <a:p>
            <a:pPr algn="ctr"/>
            <a:endParaRPr lang="fr-FR" sz="1100" b="1" noProof="1">
              <a:solidFill>
                <a:srgbClr val="1A1A1A"/>
              </a:solidFill>
              <a:latin typeface="system-ui"/>
            </a:endParaRPr>
          </a:p>
          <a:p>
            <a:pPr algn="ctr"/>
            <a:endParaRPr lang="fr-FR" sz="1100" b="1" noProof="1">
              <a:solidFill>
                <a:srgbClr val="1A1A1A"/>
              </a:solidFill>
              <a:latin typeface="system-ui"/>
            </a:endParaRPr>
          </a:p>
          <a:p>
            <a:pPr algn="ctr"/>
            <a:endParaRPr lang="fr-FR" sz="1100" b="1" noProof="1">
              <a:solidFill>
                <a:srgbClr val="1A1A1A"/>
              </a:solidFill>
              <a:latin typeface="system-ui"/>
            </a:endParaRPr>
          </a:p>
          <a:p>
            <a:pPr algn="ctr"/>
            <a:endParaRPr lang="fr-FR" sz="1100" b="1" noProof="1">
              <a:solidFill>
                <a:srgbClr val="1A1A1A"/>
              </a:solidFill>
              <a:latin typeface="system-ui"/>
            </a:endParaRPr>
          </a:p>
          <a:p>
            <a:pPr algn="ctr"/>
            <a:endParaRPr lang="fr-FR" sz="1100" b="1" noProof="1">
              <a:solidFill>
                <a:srgbClr val="1A1A1A"/>
              </a:solidFill>
              <a:latin typeface="system-ui"/>
            </a:endParaRPr>
          </a:p>
          <a:p>
            <a:pPr algn="ctr"/>
            <a:endParaRPr lang="fr-FR" sz="1100" b="1" noProof="1">
              <a:solidFill>
                <a:srgbClr val="1A1A1A"/>
              </a:solidFill>
              <a:latin typeface="system-ui"/>
            </a:endParaRPr>
          </a:p>
          <a:p>
            <a:pPr algn="ctr"/>
            <a:endParaRPr lang="fr-FR" sz="1100" b="1" noProof="1">
              <a:solidFill>
                <a:srgbClr val="1A1A1A"/>
              </a:solidFill>
              <a:latin typeface="system-ui"/>
            </a:endParaRPr>
          </a:p>
          <a:p>
            <a:pPr algn="ctr"/>
            <a:endParaRPr lang="fr-FR" sz="1100" b="1" noProof="1">
              <a:solidFill>
                <a:srgbClr val="1A1A1A"/>
              </a:solidFill>
              <a:latin typeface="system-ui"/>
            </a:endParaRPr>
          </a:p>
          <a:p>
            <a:pPr algn="ctr"/>
            <a:endParaRPr lang="fr-FR" sz="1100" b="1" noProof="1">
              <a:solidFill>
                <a:srgbClr val="1A1A1A"/>
              </a:solidFill>
              <a:latin typeface="system-ui"/>
            </a:endParaRPr>
          </a:p>
          <a:p>
            <a:pPr algn="ctr"/>
            <a:endParaRPr lang="fr-FR" sz="1100" b="1" noProof="1">
              <a:solidFill>
                <a:srgbClr val="1A1A1A"/>
              </a:solidFill>
              <a:latin typeface="system-ui"/>
            </a:endParaRPr>
          </a:p>
          <a:p>
            <a:pPr algn="ctr"/>
            <a:endParaRPr lang="fr-FR" sz="1100" b="1" noProof="1">
              <a:solidFill>
                <a:srgbClr val="1A1A1A"/>
              </a:solidFill>
              <a:latin typeface="system-ui"/>
            </a:endParaRPr>
          </a:p>
          <a:p>
            <a:pPr algn="ctr"/>
            <a:endParaRPr lang="fr-FR" sz="1100" b="1" noProof="1"/>
          </a:p>
          <a:p>
            <a:pPr algn="ctr"/>
            <a:endParaRPr lang="fr-FR" sz="1100" b="1" noProof="1"/>
          </a:p>
          <a:p>
            <a:pPr algn="ctr"/>
            <a:endParaRPr lang="fr-FR" sz="1100" b="1" noProof="1"/>
          </a:p>
          <a:p>
            <a:pPr algn="ctr"/>
            <a:endParaRPr lang="fr-FR" sz="1100" b="1" noProof="1"/>
          </a:p>
          <a:p>
            <a:pPr algn="ctr"/>
            <a:endParaRPr lang="fr-FR" sz="1100" b="1" noProof="1"/>
          </a:p>
          <a:p>
            <a:pPr algn="ctr"/>
            <a:endParaRPr lang="fr-FR" sz="1100" b="1" noProof="1"/>
          </a:p>
          <a:p>
            <a:pPr algn="ctr"/>
            <a:endParaRPr lang="fr-FR" sz="1100" b="1" noProof="1"/>
          </a:p>
          <a:p>
            <a:pPr algn="ctr"/>
            <a:endParaRPr lang="fr-FR" sz="1100" b="1" noProof="1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D6D5457A-0356-1A2F-4054-0D24CE606E55}"/>
              </a:ext>
            </a:extLst>
          </p:cNvPr>
          <p:cNvSpPr txBox="1"/>
          <p:nvPr/>
        </p:nvSpPr>
        <p:spPr>
          <a:xfrm>
            <a:off x="822863" y="1095494"/>
            <a:ext cx="1080000" cy="26161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fr-FR" sz="1100" b="0" i="0" noProof="1">
                <a:solidFill>
                  <a:srgbClr val="1A1A1A"/>
                </a:solidFill>
                <a:effectLst/>
                <a:latin typeface="system-ui"/>
              </a:rPr>
              <a:t>A importer</a:t>
            </a:r>
            <a:endParaRPr lang="fr-FR" sz="1100" noProof="1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94E6AAB1-510A-CD39-7D38-1127104B1783}"/>
              </a:ext>
            </a:extLst>
          </p:cNvPr>
          <p:cNvSpPr txBox="1"/>
          <p:nvPr/>
        </p:nvSpPr>
        <p:spPr>
          <a:xfrm>
            <a:off x="2104166" y="1095494"/>
            <a:ext cx="1080000" cy="26161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fr-FR" sz="1100" b="0" i="0" noProof="1">
                <a:solidFill>
                  <a:srgbClr val="1A1A1A"/>
                </a:solidFill>
                <a:effectLst/>
                <a:latin typeface="system-ui"/>
              </a:rPr>
              <a:t>Création</a:t>
            </a:r>
            <a:endParaRPr lang="fr-FR" sz="1100" noProof="1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66C501B4-B6CB-9C32-3678-3467E60C02AB}"/>
              </a:ext>
            </a:extLst>
          </p:cNvPr>
          <p:cNvSpPr txBox="1"/>
          <p:nvPr/>
        </p:nvSpPr>
        <p:spPr>
          <a:xfrm>
            <a:off x="3487046" y="1095494"/>
            <a:ext cx="1080000" cy="26161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fr-FR" sz="1100" b="0" i="0" noProof="1">
                <a:solidFill>
                  <a:srgbClr val="1A1A1A"/>
                </a:solidFill>
                <a:effectLst/>
                <a:latin typeface="system-ui"/>
              </a:rPr>
              <a:t>A compléter</a:t>
            </a:r>
            <a:endParaRPr lang="fr-FR" sz="1100" noProof="1"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65F28F80-60C5-B3CF-16A5-E8779D6929FE}"/>
              </a:ext>
            </a:extLst>
          </p:cNvPr>
          <p:cNvSpPr txBox="1"/>
          <p:nvPr/>
        </p:nvSpPr>
        <p:spPr>
          <a:xfrm>
            <a:off x="3487046" y="2207615"/>
            <a:ext cx="1080000" cy="26161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fr-FR" sz="1100" b="0" i="0" noProof="1">
                <a:solidFill>
                  <a:srgbClr val="1A1A1A"/>
                </a:solidFill>
                <a:effectLst/>
                <a:latin typeface="system-ui"/>
              </a:rPr>
              <a:t>À analyser</a:t>
            </a:r>
            <a:endParaRPr lang="fr-FR" sz="1100" noProof="1"/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3DDB4C83-EE44-39C3-02C0-D4EA878FC3DE}"/>
              </a:ext>
            </a:extLst>
          </p:cNvPr>
          <p:cNvSpPr txBox="1"/>
          <p:nvPr/>
        </p:nvSpPr>
        <p:spPr>
          <a:xfrm>
            <a:off x="3487046" y="2924200"/>
            <a:ext cx="1080000" cy="26161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fr-FR" sz="1100" b="0" i="0" noProof="1">
                <a:solidFill>
                  <a:srgbClr val="1A1A1A"/>
                </a:solidFill>
                <a:effectLst/>
                <a:latin typeface="system-ui"/>
              </a:rPr>
              <a:t>À traiter</a:t>
            </a:r>
            <a:endParaRPr lang="fr-FR" sz="1100" noProof="1"/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8933D2AA-3010-04D9-2E5E-73D94A9DC7FC}"/>
              </a:ext>
            </a:extLst>
          </p:cNvPr>
          <p:cNvSpPr txBox="1"/>
          <p:nvPr/>
        </p:nvSpPr>
        <p:spPr>
          <a:xfrm>
            <a:off x="4862312" y="2203720"/>
            <a:ext cx="1080000" cy="26161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fr-FR" sz="1100" b="0" i="0" noProof="1">
                <a:solidFill>
                  <a:srgbClr val="1A1A1A"/>
                </a:solidFill>
                <a:effectLst/>
                <a:latin typeface="system-ui"/>
              </a:rPr>
              <a:t>Expiré</a:t>
            </a:r>
            <a:endParaRPr lang="fr-FR" sz="1100" noProof="1"/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E3396FAF-D913-7923-8EC1-02F55491DC1E}"/>
              </a:ext>
            </a:extLst>
          </p:cNvPr>
          <p:cNvSpPr txBox="1"/>
          <p:nvPr/>
        </p:nvSpPr>
        <p:spPr>
          <a:xfrm>
            <a:off x="3487046" y="3541386"/>
            <a:ext cx="1080000" cy="26161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fr-FR" sz="1100" b="0" i="0" noProof="1">
                <a:solidFill>
                  <a:srgbClr val="2C5282"/>
                </a:solidFill>
                <a:effectLst/>
                <a:latin typeface="system-ui"/>
              </a:rPr>
              <a:t>Candidaté</a:t>
            </a:r>
            <a:endParaRPr lang="fr-FR" sz="1100" noProof="1"/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3F784C05-8919-E2A8-6766-CC128914E0A3}"/>
              </a:ext>
            </a:extLst>
          </p:cNvPr>
          <p:cNvSpPr txBox="1"/>
          <p:nvPr/>
        </p:nvSpPr>
        <p:spPr>
          <a:xfrm>
            <a:off x="3184166" y="4085245"/>
            <a:ext cx="1080000" cy="26161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fr-FR" sz="1100" b="0" i="0" noProof="1">
                <a:solidFill>
                  <a:srgbClr val="2C5282"/>
                </a:solidFill>
                <a:effectLst/>
                <a:latin typeface="system-ui"/>
              </a:rPr>
              <a:t>Refusé</a:t>
            </a:r>
            <a:endParaRPr lang="fr-FR" sz="1100" noProof="1"/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6AE52CD1-0FA1-18CE-7E7C-E8FBDBABCE71}"/>
              </a:ext>
            </a:extLst>
          </p:cNvPr>
          <p:cNvSpPr txBox="1"/>
          <p:nvPr/>
        </p:nvSpPr>
        <p:spPr>
          <a:xfrm>
            <a:off x="4431104" y="4291005"/>
            <a:ext cx="1757552" cy="307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fr-FR" sz="700" b="0" i="1" noProof="1">
                <a:solidFill>
                  <a:srgbClr val="555555"/>
                </a:solidFill>
                <a:effectLst/>
                <a:latin typeface="system-ui"/>
              </a:rPr>
              <a:t>Traité, Ignoré… et « Autre » si vous créez des statuts supplémentaires dans Airtable.</a:t>
            </a:r>
            <a:endParaRPr lang="fr-FR" sz="700" noProof="1"/>
          </a:p>
        </p:txBody>
      </p:sp>
      <p:cxnSp>
        <p:nvCxnSpPr>
          <p:cNvPr id="31" name="Connecteur droit avec flèche 30">
            <a:extLst>
              <a:ext uri="{FF2B5EF4-FFF2-40B4-BE49-F238E27FC236}">
                <a16:creationId xmlns:a16="http://schemas.microsoft.com/office/drawing/2014/main" id="{77F8E1D5-6BFD-5934-6868-8F74752A0A7F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1902863" y="1226299"/>
            <a:ext cx="20130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ZoneTexte 36">
            <a:extLst>
              <a:ext uri="{FF2B5EF4-FFF2-40B4-BE49-F238E27FC236}">
                <a16:creationId xmlns:a16="http://schemas.microsoft.com/office/drawing/2014/main" id="{7898064A-A341-4BAE-CC05-62431E901B81}"/>
              </a:ext>
            </a:extLst>
          </p:cNvPr>
          <p:cNvSpPr txBox="1"/>
          <p:nvPr/>
        </p:nvSpPr>
        <p:spPr>
          <a:xfrm>
            <a:off x="397300" y="2129328"/>
            <a:ext cx="1900674" cy="43088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fr-FR" sz="1100" b="1" i="0" noProof="1">
                <a:solidFill>
                  <a:srgbClr val="1A1A1A"/>
                </a:solidFill>
                <a:effectLst/>
                <a:latin typeface="system-ui"/>
              </a:rPr>
              <a:t>Site du recruteur</a:t>
            </a:r>
          </a:p>
          <a:p>
            <a:pPr algn="ctr"/>
            <a:endParaRPr lang="fr-FR" sz="1100" b="1" noProof="1">
              <a:solidFill>
                <a:srgbClr val="1A1A1A"/>
              </a:solidFill>
              <a:latin typeface="system-ui"/>
            </a:endParaRPr>
          </a:p>
        </p:txBody>
      </p:sp>
      <p:cxnSp>
        <p:nvCxnSpPr>
          <p:cNvPr id="38" name="Connecteur droit avec flèche 37">
            <a:extLst>
              <a:ext uri="{FF2B5EF4-FFF2-40B4-BE49-F238E27FC236}">
                <a16:creationId xmlns:a16="http://schemas.microsoft.com/office/drawing/2014/main" id="{2340FA3E-9FED-94BE-5955-9541B0C81F6E}"/>
              </a:ext>
            </a:extLst>
          </p:cNvPr>
          <p:cNvCxnSpPr>
            <a:cxnSpLocks/>
            <a:stCxn id="15" idx="3"/>
            <a:endCxn id="17" idx="1"/>
          </p:cNvCxnSpPr>
          <p:nvPr/>
        </p:nvCxnSpPr>
        <p:spPr>
          <a:xfrm>
            <a:off x="3191780" y="2335749"/>
            <a:ext cx="295266" cy="26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eur droit avec flèche 42">
            <a:extLst>
              <a:ext uri="{FF2B5EF4-FFF2-40B4-BE49-F238E27FC236}">
                <a16:creationId xmlns:a16="http://schemas.microsoft.com/office/drawing/2014/main" id="{613EB701-392C-7302-FA8D-C907CB655914}"/>
              </a:ext>
            </a:extLst>
          </p:cNvPr>
          <p:cNvCxnSpPr>
            <a:cxnSpLocks/>
            <a:stCxn id="11" idx="3"/>
            <a:endCxn id="13" idx="1"/>
          </p:cNvCxnSpPr>
          <p:nvPr/>
        </p:nvCxnSpPr>
        <p:spPr>
          <a:xfrm>
            <a:off x="3184166" y="1226299"/>
            <a:ext cx="3028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ZoneTexte 14">
            <a:extLst>
              <a:ext uri="{FF2B5EF4-FFF2-40B4-BE49-F238E27FC236}">
                <a16:creationId xmlns:a16="http://schemas.microsoft.com/office/drawing/2014/main" id="{D939B935-DB6A-234E-402C-074DF660CF37}"/>
              </a:ext>
            </a:extLst>
          </p:cNvPr>
          <p:cNvSpPr txBox="1"/>
          <p:nvPr/>
        </p:nvSpPr>
        <p:spPr>
          <a:xfrm>
            <a:off x="2111780" y="2204944"/>
            <a:ext cx="1080000" cy="26161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fr-FR" sz="1100" b="0" i="0" noProof="1">
                <a:solidFill>
                  <a:srgbClr val="1A1A1A"/>
                </a:solidFill>
                <a:effectLst/>
                <a:latin typeface="system-ui"/>
              </a:rPr>
              <a:t>Enrichissement</a:t>
            </a:r>
            <a:endParaRPr lang="fr-FR" sz="1100" noProof="1"/>
          </a:p>
        </p:txBody>
      </p:sp>
      <p:cxnSp>
        <p:nvCxnSpPr>
          <p:cNvPr id="58" name="Connecteur : en angle 57">
            <a:extLst>
              <a:ext uri="{FF2B5EF4-FFF2-40B4-BE49-F238E27FC236}">
                <a16:creationId xmlns:a16="http://schemas.microsoft.com/office/drawing/2014/main" id="{7BDFF8B2-98FD-5142-E165-94F88E02C2A9}"/>
              </a:ext>
            </a:extLst>
          </p:cNvPr>
          <p:cNvCxnSpPr>
            <a:stCxn id="13" idx="2"/>
            <a:endCxn id="15" idx="0"/>
          </p:cNvCxnSpPr>
          <p:nvPr/>
        </p:nvCxnSpPr>
        <p:spPr>
          <a:xfrm rot="5400000">
            <a:off x="2915493" y="1093391"/>
            <a:ext cx="847840" cy="1375266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ZoneTexte 62">
            <a:extLst>
              <a:ext uri="{FF2B5EF4-FFF2-40B4-BE49-F238E27FC236}">
                <a16:creationId xmlns:a16="http://schemas.microsoft.com/office/drawing/2014/main" id="{893326C9-CDB4-52B1-8F9D-15E73C3F6953}"/>
              </a:ext>
            </a:extLst>
          </p:cNvPr>
          <p:cNvSpPr txBox="1"/>
          <p:nvPr/>
        </p:nvSpPr>
        <p:spPr>
          <a:xfrm>
            <a:off x="397300" y="2838663"/>
            <a:ext cx="1900674" cy="43088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fr-FR" sz="1100" b="1" i="0" noProof="1">
                <a:solidFill>
                  <a:srgbClr val="1A1A1A"/>
                </a:solidFill>
                <a:effectLst/>
                <a:latin typeface="system-ui"/>
              </a:rPr>
              <a:t>ClaudeCode</a:t>
            </a:r>
          </a:p>
          <a:p>
            <a:pPr algn="ctr"/>
            <a:r>
              <a:rPr lang="fr-FR" sz="1100" b="1" i="0" noProof="1">
                <a:solidFill>
                  <a:srgbClr val="1A1A1A"/>
                </a:solidFill>
                <a:effectLst/>
                <a:latin typeface="system-ui"/>
              </a:rPr>
              <a:t>Anthropic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B3A6D793-800F-93A2-4276-35993D42F81F}"/>
              </a:ext>
            </a:extLst>
          </p:cNvPr>
          <p:cNvSpPr txBox="1"/>
          <p:nvPr/>
        </p:nvSpPr>
        <p:spPr>
          <a:xfrm>
            <a:off x="2111780" y="2924201"/>
            <a:ext cx="1080000" cy="26161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fr-FR" sz="1100" b="0" i="0" noProof="1">
                <a:solidFill>
                  <a:srgbClr val="1A1A1A"/>
                </a:solidFill>
                <a:effectLst/>
                <a:latin typeface="system-ui"/>
              </a:rPr>
              <a:t>Analyse IA</a:t>
            </a:r>
            <a:endParaRPr lang="fr-FR" sz="1100" noProof="1"/>
          </a:p>
        </p:txBody>
      </p:sp>
      <p:cxnSp>
        <p:nvCxnSpPr>
          <p:cNvPr id="64" name="Connecteur : en angle 63">
            <a:extLst>
              <a:ext uri="{FF2B5EF4-FFF2-40B4-BE49-F238E27FC236}">
                <a16:creationId xmlns:a16="http://schemas.microsoft.com/office/drawing/2014/main" id="{A1534FF4-DC02-0410-95CB-B94A91F64FF8}"/>
              </a:ext>
            </a:extLst>
          </p:cNvPr>
          <p:cNvCxnSpPr>
            <a:cxnSpLocks/>
            <a:stCxn id="17" idx="2"/>
            <a:endCxn id="19" idx="0"/>
          </p:cNvCxnSpPr>
          <p:nvPr/>
        </p:nvCxnSpPr>
        <p:spPr>
          <a:xfrm rot="5400000">
            <a:off x="3111925" y="2009080"/>
            <a:ext cx="454976" cy="137526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eur droit avec flèche 66">
            <a:extLst>
              <a:ext uri="{FF2B5EF4-FFF2-40B4-BE49-F238E27FC236}">
                <a16:creationId xmlns:a16="http://schemas.microsoft.com/office/drawing/2014/main" id="{236CD6E0-E9B4-B6CA-B35D-BE70ACACED14}"/>
              </a:ext>
            </a:extLst>
          </p:cNvPr>
          <p:cNvCxnSpPr>
            <a:cxnSpLocks/>
            <a:stCxn id="19" idx="3"/>
            <a:endCxn id="21" idx="1"/>
          </p:cNvCxnSpPr>
          <p:nvPr/>
        </p:nvCxnSpPr>
        <p:spPr>
          <a:xfrm flipV="1">
            <a:off x="3191780" y="3055005"/>
            <a:ext cx="295266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ZoneTexte 72">
            <a:extLst>
              <a:ext uri="{FF2B5EF4-FFF2-40B4-BE49-F238E27FC236}">
                <a16:creationId xmlns:a16="http://schemas.microsoft.com/office/drawing/2014/main" id="{466A204D-B3E1-E8FE-200B-C0387F65E8A7}"/>
              </a:ext>
            </a:extLst>
          </p:cNvPr>
          <p:cNvSpPr txBox="1"/>
          <p:nvPr/>
        </p:nvSpPr>
        <p:spPr>
          <a:xfrm>
            <a:off x="4486368" y="2219109"/>
            <a:ext cx="414822" cy="2308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fr-FR" sz="900" b="0" i="1" noProof="1">
                <a:solidFill>
                  <a:srgbClr val="555555"/>
                </a:solidFill>
                <a:effectLst/>
                <a:latin typeface="system-ui"/>
              </a:rPr>
              <a:t>ou</a:t>
            </a:r>
            <a:endParaRPr lang="fr-FR" sz="900" noProof="1"/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37E76133-1F3C-7438-8142-7091B23BEFD4}"/>
              </a:ext>
            </a:extLst>
          </p:cNvPr>
          <p:cNvSpPr txBox="1"/>
          <p:nvPr/>
        </p:nvSpPr>
        <p:spPr>
          <a:xfrm rot="5400000">
            <a:off x="5021608" y="2059185"/>
            <a:ext cx="2478021" cy="26161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fr-FR" sz="1100" b="0" i="0" noProof="1">
                <a:solidFill>
                  <a:srgbClr val="1A1A1A"/>
                </a:solidFill>
                <a:effectLst/>
                <a:latin typeface="system-ui"/>
              </a:rPr>
              <a:t>Géré par Job-Joy</a:t>
            </a:r>
          </a:p>
        </p:txBody>
      </p:sp>
      <p:sp>
        <p:nvSpPr>
          <p:cNvPr id="75" name="ZoneTexte 74">
            <a:extLst>
              <a:ext uri="{FF2B5EF4-FFF2-40B4-BE49-F238E27FC236}">
                <a16:creationId xmlns:a16="http://schemas.microsoft.com/office/drawing/2014/main" id="{1D3C7FEF-9C48-5971-3908-B7678A920965}"/>
              </a:ext>
            </a:extLst>
          </p:cNvPr>
          <p:cNvSpPr txBox="1"/>
          <p:nvPr/>
        </p:nvSpPr>
        <p:spPr>
          <a:xfrm rot="5400000">
            <a:off x="5632546" y="3923077"/>
            <a:ext cx="1249970" cy="26161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fr-FR" sz="1100" b="0" i="0" noProof="1">
                <a:solidFill>
                  <a:srgbClr val="1A1A1A"/>
                </a:solidFill>
                <a:effectLst/>
                <a:latin typeface="system-ui"/>
              </a:rPr>
              <a:t>Géré par vous</a:t>
            </a:r>
          </a:p>
        </p:txBody>
      </p:sp>
      <p:cxnSp>
        <p:nvCxnSpPr>
          <p:cNvPr id="76" name="Connecteur droit avec flèche 75">
            <a:extLst>
              <a:ext uri="{FF2B5EF4-FFF2-40B4-BE49-F238E27FC236}">
                <a16:creationId xmlns:a16="http://schemas.microsoft.com/office/drawing/2014/main" id="{2567939F-C36F-56A5-DFF4-B3A48F428132}"/>
              </a:ext>
            </a:extLst>
          </p:cNvPr>
          <p:cNvCxnSpPr>
            <a:cxnSpLocks/>
            <a:stCxn id="21" idx="2"/>
            <a:endCxn id="25" idx="0"/>
          </p:cNvCxnSpPr>
          <p:nvPr/>
        </p:nvCxnSpPr>
        <p:spPr>
          <a:xfrm>
            <a:off x="4027046" y="3185810"/>
            <a:ext cx="0" cy="3555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ZoneTexte 79">
            <a:extLst>
              <a:ext uri="{FF2B5EF4-FFF2-40B4-BE49-F238E27FC236}">
                <a16:creationId xmlns:a16="http://schemas.microsoft.com/office/drawing/2014/main" id="{4F33183E-AAF8-C1A6-C934-EAA805DBCD69}"/>
              </a:ext>
            </a:extLst>
          </p:cNvPr>
          <p:cNvSpPr txBox="1"/>
          <p:nvPr/>
        </p:nvSpPr>
        <p:spPr>
          <a:xfrm>
            <a:off x="4769880" y="3540996"/>
            <a:ext cx="1080000" cy="26161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fr-FR" sz="1100" b="0" i="0" noProof="1">
                <a:solidFill>
                  <a:srgbClr val="2C5282"/>
                </a:solidFill>
                <a:effectLst/>
                <a:latin typeface="system-ui"/>
              </a:rPr>
              <a:t>Traité</a:t>
            </a:r>
            <a:endParaRPr lang="fr-FR" sz="1100" noProof="1"/>
          </a:p>
        </p:txBody>
      </p:sp>
      <p:cxnSp>
        <p:nvCxnSpPr>
          <p:cNvPr id="81" name="Connecteur : en angle 80">
            <a:extLst>
              <a:ext uri="{FF2B5EF4-FFF2-40B4-BE49-F238E27FC236}">
                <a16:creationId xmlns:a16="http://schemas.microsoft.com/office/drawing/2014/main" id="{F143E417-489E-E373-3304-42A0FA5A42B5}"/>
              </a:ext>
            </a:extLst>
          </p:cNvPr>
          <p:cNvCxnSpPr>
            <a:cxnSpLocks/>
            <a:stCxn id="21" idx="2"/>
            <a:endCxn id="80" idx="0"/>
          </p:cNvCxnSpPr>
          <p:nvPr/>
        </p:nvCxnSpPr>
        <p:spPr>
          <a:xfrm rot="16200000" flipH="1">
            <a:off x="4490870" y="2721986"/>
            <a:ext cx="355186" cy="128283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eur : en angle 83">
            <a:extLst>
              <a:ext uri="{FF2B5EF4-FFF2-40B4-BE49-F238E27FC236}">
                <a16:creationId xmlns:a16="http://schemas.microsoft.com/office/drawing/2014/main" id="{AA7932C2-B9E5-CA8E-925C-6D1761A985F2}"/>
              </a:ext>
            </a:extLst>
          </p:cNvPr>
          <p:cNvCxnSpPr>
            <a:cxnSpLocks/>
            <a:stCxn id="25" idx="2"/>
            <a:endCxn id="27" idx="0"/>
          </p:cNvCxnSpPr>
          <p:nvPr/>
        </p:nvCxnSpPr>
        <p:spPr>
          <a:xfrm rot="5400000">
            <a:off x="3734482" y="3792680"/>
            <a:ext cx="282249" cy="30288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ZoneTexte 86">
            <a:extLst>
              <a:ext uri="{FF2B5EF4-FFF2-40B4-BE49-F238E27FC236}">
                <a16:creationId xmlns:a16="http://schemas.microsoft.com/office/drawing/2014/main" id="{4B036CB6-CF94-6D6B-D38C-037E08F4F3CF}"/>
              </a:ext>
            </a:extLst>
          </p:cNvPr>
          <p:cNvSpPr txBox="1"/>
          <p:nvPr/>
        </p:nvSpPr>
        <p:spPr>
          <a:xfrm>
            <a:off x="397300" y="4415887"/>
            <a:ext cx="1080000" cy="26161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fr-FR" sz="1100" b="0" i="0" noProof="1">
                <a:solidFill>
                  <a:srgbClr val="1A1A1A"/>
                </a:solidFill>
                <a:effectLst/>
                <a:latin typeface="system-ui"/>
              </a:rPr>
              <a:t>Phase</a:t>
            </a:r>
            <a:endParaRPr lang="fr-FR" sz="1100" noProof="1"/>
          </a:p>
        </p:txBody>
      </p:sp>
      <p:sp>
        <p:nvSpPr>
          <p:cNvPr id="88" name="ZoneTexte 87">
            <a:extLst>
              <a:ext uri="{FF2B5EF4-FFF2-40B4-BE49-F238E27FC236}">
                <a16:creationId xmlns:a16="http://schemas.microsoft.com/office/drawing/2014/main" id="{933B79EC-5890-A9DF-AAF8-027275C9BE90}"/>
              </a:ext>
            </a:extLst>
          </p:cNvPr>
          <p:cNvSpPr txBox="1"/>
          <p:nvPr/>
        </p:nvSpPr>
        <p:spPr>
          <a:xfrm>
            <a:off x="397300" y="3811100"/>
            <a:ext cx="1080000" cy="2616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fr-FR" sz="1100" b="1" i="0" noProof="1">
                <a:solidFill>
                  <a:srgbClr val="1A1A1A"/>
                </a:solidFill>
                <a:effectLst/>
                <a:latin typeface="system-ui"/>
              </a:rPr>
              <a:t>Composant</a:t>
            </a:r>
          </a:p>
        </p:txBody>
      </p:sp>
      <p:sp>
        <p:nvSpPr>
          <p:cNvPr id="89" name="ZoneTexte 88">
            <a:extLst>
              <a:ext uri="{FF2B5EF4-FFF2-40B4-BE49-F238E27FC236}">
                <a16:creationId xmlns:a16="http://schemas.microsoft.com/office/drawing/2014/main" id="{E5FDC258-44CD-6796-5886-272D66C207E6}"/>
              </a:ext>
            </a:extLst>
          </p:cNvPr>
          <p:cNvSpPr txBox="1"/>
          <p:nvPr/>
        </p:nvSpPr>
        <p:spPr>
          <a:xfrm>
            <a:off x="397300" y="4113493"/>
            <a:ext cx="1080000" cy="26161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fr-FR" sz="1100" b="0" i="0" noProof="1">
                <a:solidFill>
                  <a:srgbClr val="2C5282"/>
                </a:solidFill>
                <a:effectLst/>
                <a:latin typeface="system-ui"/>
              </a:rPr>
              <a:t>Statut</a:t>
            </a:r>
            <a:endParaRPr lang="fr-FR" sz="1100" noProof="1"/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A72A5291-78CD-4A1D-7044-32542CDD2206}"/>
              </a:ext>
            </a:extLst>
          </p:cNvPr>
          <p:cNvSpPr txBox="1"/>
          <p:nvPr/>
        </p:nvSpPr>
        <p:spPr>
          <a:xfrm>
            <a:off x="269174" y="184111"/>
            <a:ext cx="6119162" cy="307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fr-FR" sz="1400" b="1" i="1" noProof="1">
                <a:solidFill>
                  <a:srgbClr val="555555"/>
                </a:solidFill>
                <a:effectLst/>
                <a:latin typeface="system-ui"/>
              </a:rPr>
              <a:t>Diagramme de flux de Job-Joy</a:t>
            </a:r>
            <a:endParaRPr lang="fr-FR" sz="1400" b="1" noProof="1"/>
          </a:p>
        </p:txBody>
      </p:sp>
      <p:cxnSp>
        <p:nvCxnSpPr>
          <p:cNvPr id="2" name="Connecteur : en angle 1">
            <a:extLst>
              <a:ext uri="{FF2B5EF4-FFF2-40B4-BE49-F238E27FC236}">
                <a16:creationId xmlns:a16="http://schemas.microsoft.com/office/drawing/2014/main" id="{AF670408-F918-D31E-0293-10A895DE98FD}"/>
              </a:ext>
            </a:extLst>
          </p:cNvPr>
          <p:cNvCxnSpPr>
            <a:cxnSpLocks/>
            <a:stCxn id="25" idx="2"/>
            <a:endCxn id="29" idx="0"/>
          </p:cNvCxnSpPr>
          <p:nvPr/>
        </p:nvCxnSpPr>
        <p:spPr>
          <a:xfrm rot="16200000" flipH="1">
            <a:off x="4424459" y="3405583"/>
            <a:ext cx="488009" cy="1282834"/>
          </a:xfrm>
          <a:prstGeom prst="bentConnector3">
            <a:avLst>
              <a:gd name="adj1" fmla="val 29389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958955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60</Words>
  <Application>Microsoft Office PowerPoint</Application>
  <PresentationFormat>Grand écran</PresentationFormat>
  <Paragraphs>46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system-ui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Alain Meunier</dc:creator>
  <cp:lastModifiedBy>Alain Meunier</cp:lastModifiedBy>
  <cp:revision>2</cp:revision>
  <dcterms:created xsi:type="dcterms:W3CDTF">2026-02-25T09:21:51Z</dcterms:created>
  <dcterms:modified xsi:type="dcterms:W3CDTF">2026-02-25T10:04:11Z</dcterms:modified>
</cp:coreProperties>
</file>